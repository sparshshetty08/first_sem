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image" Target="../media/image-5-5.png"/><Relationship Id="rId9" Type="http://schemas.openxmlformats.org/officeDocument/2006/relationships/image" Target="../media/image-5-9.png"/><Relationship Id="rId10" Type="http://schemas.openxmlformats.org/officeDocument/2006/relationships/image" Target="../media/image-5-2.png"/><Relationship Id="rId11" Type="http://schemas.openxmlformats.org/officeDocument/2006/relationships/image" Target="../media/image-5-2.png"/><Relationship Id="rId12" Type="http://schemas.openxmlformats.org/officeDocument/2006/relationships/image" Target="../media/image-5-5.png"/><Relationship Id="rId13" Type="http://schemas.openxmlformats.org/officeDocument/2006/relationships/image" Target="../media/image-5-5.png"/><Relationship Id="rId14" Type="http://schemas.openxmlformats.org/officeDocument/2006/relationships/image" Target="../media/image-5-5.png"/><Relationship Id="rId15" Type="http://schemas.openxmlformats.org/officeDocument/2006/relationships/image" Target="../media/image-5-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1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FFD43B">
              <a:alpha val="15000"/>
            </a:srgbClr>
          </a:solidFill>
          <a:ln/>
        </p:spPr>
      </p:sp>
      <p:pic>
        <p:nvPicPr>
          <p:cNvPr id="4" name="Image 0" descr="icons/python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6868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for Beginners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25400">
            <a:solidFill>
              <a:srgbClr val="30699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069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•  Why it matters  •  How it runs  •  Your first program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Course  |  Module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Python?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high-level, general-purpose programming language.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emphasizes readable, English-like syntax and lets you express ideas in fewer lines of code than most languages.</a:t>
            </a:r>
            <a:endParaRPr lang="en-US" sz="1600" dirty="0"/>
          </a:p>
        </p:txBody>
      </p:sp>
      <p:pic>
        <p:nvPicPr>
          <p:cNvPr id="5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7063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7919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 —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line-by-line via an interpreter — no separate compile step needed</a:t>
            </a:r>
            <a:endParaRPr lang="en-US" sz="1300" dirty="0"/>
          </a:p>
        </p:txBody>
      </p:sp>
      <p:pic>
        <p:nvPicPr>
          <p:cNvPr id="7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7355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18211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typed  —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declare variable types up front</a:t>
            </a:r>
            <a:endParaRPr lang="en-US" sz="1300" dirty="0"/>
          </a:p>
        </p:txBody>
      </p:sp>
      <p:pic>
        <p:nvPicPr>
          <p:cNvPr id="9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764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368503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Multi-paradigm  —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procedural, object-oriented, and functional styles</a:t>
            </a:r>
            <a:endParaRPr lang="en-US" sz="1300" dirty="0"/>
          </a:p>
        </p:txBody>
      </p:sp>
      <p:pic>
        <p:nvPicPr>
          <p:cNvPr id="11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939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18795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—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use, modify, and distribute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7178040" y="1234440"/>
            <a:ext cx="4526280" cy="4892040"/>
          </a:xfrm>
          <a:prstGeom prst="roundRect">
            <a:avLst>
              <a:gd name="adj" fmla="val 2424"/>
            </a:avLst>
          </a:prstGeom>
          <a:solidFill>
            <a:srgbClr val="1E3D59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4" descr="icons/pyth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600200"/>
            <a:ext cx="777240" cy="7772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78040" y="25146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4000" dirty="0"/>
          </a:p>
        </p:txBody>
      </p:sp>
      <p:sp>
        <p:nvSpPr>
          <p:cNvPr id="16" name="Text 9"/>
          <p:cNvSpPr/>
          <p:nvPr/>
        </p:nvSpPr>
        <p:spPr>
          <a:xfrm>
            <a:off x="7452360" y="32004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 by Guido van Rossum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635240" y="3794760"/>
            <a:ext cx="3611880" cy="0"/>
          </a:xfrm>
          <a:prstGeom prst="line">
            <a:avLst/>
          </a:prstGeom>
          <a:noFill/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498080" y="40233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named after the British comedy show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"Monty Python's Flying Circus"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snake!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7498080" y="5623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this in a Python shell:  import this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 is Popular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6" name="Image 0" descr="icons/boo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733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Readable Syntax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plain English — reads almost like pseudocode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325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55448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11" name="Image 1" descr="icons/cube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733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Batteries Included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standard library ships with the language itself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325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55448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16" name="Image 2" descr="icons/us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6733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Community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676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developers, forums, tutorials, and support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97764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21" name="Image 3" descr="icons/glob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0965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663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5800" y="5029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runs on Windows, macOS, and Linux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97764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26" name="Image 4" descr="icons/rocke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09651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663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Ecosystem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6280" y="5029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500,000 third-party packages available on PyPI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397764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31" name="Image 5" descr="icons/grad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09651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663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Friendly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66760" y="5029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learning curve — a top choice for first languages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Applications, by Domain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30699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icons/webdev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194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6974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Flask · FastAPI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E3D5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icons/dat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54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2194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26280" y="26974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Jupyter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38160" y="1325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30699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icons/m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554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2194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/ AI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66760" y="26974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PyTorch · TensorFlow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E3D5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icons/automa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Scripting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85800" y="5120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· web scraping · task bots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297680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30699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icons/sci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9776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2628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Computing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26280" y="5120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· research &amp; academia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38160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E3D5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5" descr="icons/gam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97764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6676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Development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366760" y="5120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· prototyping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Compiled vs. Interpreted Languages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1E3D5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5349240" cy="274320"/>
          </a:xfrm>
          <a:prstGeom prst="rect">
            <a:avLst/>
          </a:prstGeom>
          <a:solidFill>
            <a:srgbClr val="1E3D59"/>
          </a:solidFill>
          <a:ln/>
        </p:spPr>
      </p:sp>
      <p:pic>
        <p:nvPicPr>
          <p:cNvPr id="7" name="Image 0" descr="icons/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47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2588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C++, Rust, Go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514600"/>
            <a:ext cx="1170432" cy="594360"/>
          </a:xfrm>
          <a:prstGeom prst="roundRect">
            <a:avLst>
              <a:gd name="adj" fmla="val 9231"/>
            </a:avLst>
          </a:prstGeom>
          <a:solidFill>
            <a:srgbClr val="E8EDF2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900" dirty="0"/>
          </a:p>
        </p:txBody>
      </p:sp>
      <p:pic>
        <p:nvPicPr>
          <p:cNvPr id="12" name="Image 1" descr="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524" y="2715768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956816" y="2514600"/>
            <a:ext cx="1170432" cy="594360"/>
          </a:xfrm>
          <a:prstGeom prst="roundRect">
            <a:avLst>
              <a:gd name="adj" fmla="val 9231"/>
            </a:avLst>
          </a:prstGeom>
          <a:solidFill>
            <a:srgbClr val="E8EDF2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984248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900" dirty="0"/>
          </a:p>
        </p:txBody>
      </p:sp>
      <p:pic>
        <p:nvPicPr>
          <p:cNvPr id="15" name="Image 2" descr="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2715768"/>
            <a:ext cx="182880" cy="182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182112" y="2514600"/>
            <a:ext cx="1170432" cy="594360"/>
          </a:xfrm>
          <a:prstGeom prst="roundRect">
            <a:avLst>
              <a:gd name="adj" fmla="val 9231"/>
            </a:avLst>
          </a:prstGeom>
          <a:solidFill>
            <a:srgbClr val="FFD43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209544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</a:t>
            </a:r>
            <a:endParaRPr lang="en-US" sz="900" dirty="0"/>
          </a:p>
        </p:txBody>
      </p:sp>
      <p:pic>
        <p:nvPicPr>
          <p:cNvPr id="18" name="Image 3" descr="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116" y="2715768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407408" y="2514600"/>
            <a:ext cx="1170432" cy="594360"/>
          </a:xfrm>
          <a:prstGeom prst="roundRect">
            <a:avLst>
              <a:gd name="adj" fmla="val 9231"/>
            </a:avLst>
          </a:prstGeom>
          <a:solidFill>
            <a:srgbClr val="E8EDF2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434840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CPU</a:t>
            </a:r>
            <a:endParaRPr lang="en-US" sz="900" dirty="0"/>
          </a:p>
        </p:txBody>
      </p:sp>
      <p:pic>
        <p:nvPicPr>
          <p:cNvPr id="21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47288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7552" y="337413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entirely to machine code before running</a:t>
            </a:r>
            <a:endParaRPr lang="en-US" sz="1150" dirty="0"/>
          </a:p>
        </p:txBody>
      </p:sp>
      <p:pic>
        <p:nvPicPr>
          <p:cNvPr id="23" name="Image 5" descr="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14216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7552" y="3941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standalone, platform-specific executable</a:t>
            </a:r>
            <a:endParaRPr lang="en-US" sz="1150" dirty="0"/>
          </a:p>
        </p:txBody>
      </p:sp>
      <p:pic>
        <p:nvPicPr>
          <p:cNvPr id="25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81144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87552" y="45079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at compile time — checked upfront</a:t>
            </a:r>
            <a:endParaRPr lang="en-US" sz="1150" dirty="0"/>
          </a:p>
        </p:txBody>
      </p:sp>
      <p:pic>
        <p:nvPicPr>
          <p:cNvPr id="27" name="Image 7" descr="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148072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87552" y="50749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execution; slower edit-compile-run cycle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6355080" y="13258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6355080" y="132588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306998"/>
          </a:solidFill>
          <a:ln/>
        </p:spPr>
      </p:sp>
      <p:sp>
        <p:nvSpPr>
          <p:cNvPr id="31" name="Shape 21"/>
          <p:cNvSpPr/>
          <p:nvPr/>
        </p:nvSpPr>
        <p:spPr>
          <a:xfrm>
            <a:off x="6355080" y="1645920"/>
            <a:ext cx="5349240" cy="274320"/>
          </a:xfrm>
          <a:prstGeom prst="rect">
            <a:avLst/>
          </a:prstGeom>
          <a:solidFill>
            <a:srgbClr val="306998"/>
          </a:solidFill>
          <a:ln/>
        </p:spPr>
      </p:sp>
      <p:pic>
        <p:nvPicPr>
          <p:cNvPr id="32" name="Image 8" descr="icons/terminal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1444752"/>
            <a:ext cx="365760" cy="3657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040880" y="132588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INTERPRETED</a:t>
            </a:r>
            <a:endParaRPr lang="en-US" sz="1800" dirty="0"/>
          </a:p>
        </p:txBody>
      </p:sp>
      <p:sp>
        <p:nvSpPr>
          <p:cNvPr id="34" name="Text 23"/>
          <p:cNvSpPr/>
          <p:nvPr/>
        </p:nvSpPr>
        <p:spPr>
          <a:xfrm>
            <a:off x="6629400" y="20574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JavaScript, Ruby, PHP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6629400" y="25146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E8EDF2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6656832" y="251460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950" dirty="0"/>
          </a:p>
        </p:txBody>
      </p:sp>
      <p:pic>
        <p:nvPicPr>
          <p:cNvPr id="37" name="Image 9" descr="icons/arrow_gra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2168" y="2715768"/>
            <a:ext cx="182880" cy="18288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8275320" y="25146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E8EDF2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8302752" y="251460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950" dirty="0"/>
          </a:p>
        </p:txBody>
      </p:sp>
      <p:pic>
        <p:nvPicPr>
          <p:cNvPr id="40" name="Image 10" descr="icons/arrow_gr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8088" y="2715768"/>
            <a:ext cx="182880" cy="182880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9921240" y="25146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D43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9948672" y="251460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Live</a:t>
            </a:r>
            <a:endParaRPr lang="en-US" sz="950" dirty="0"/>
          </a:p>
        </p:txBody>
      </p:sp>
      <p:pic>
        <p:nvPicPr>
          <p:cNvPr id="43" name="Image 11" descr="icons/check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447288"/>
            <a:ext cx="164592" cy="16459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885432" y="337413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and executed one line at a time, at runtime (repeats each run)</a:t>
            </a:r>
            <a:endParaRPr lang="en-US" sz="1150" dirty="0"/>
          </a:p>
        </p:txBody>
      </p:sp>
      <p:pic>
        <p:nvPicPr>
          <p:cNvPr id="45" name="Image 12" descr="icons/check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4014216"/>
            <a:ext cx="164592" cy="164592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885432" y="3941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standalone executable — interpreter must be present</a:t>
            </a:r>
            <a:endParaRPr lang="en-US" sz="1150" dirty="0"/>
          </a:p>
        </p:txBody>
      </p:sp>
      <p:pic>
        <p:nvPicPr>
          <p:cNvPr id="47" name="Image 13" descr="icons/check_tea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4581144"/>
            <a:ext cx="164592" cy="164592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885432" y="45079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surface at runtime, when that line executes</a:t>
            </a:r>
            <a:endParaRPr lang="en-US" sz="1150" dirty="0"/>
          </a:p>
        </p:txBody>
      </p:sp>
      <p:pic>
        <p:nvPicPr>
          <p:cNvPr id="49" name="Image 14" descr="icons/check_teal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5148072"/>
            <a:ext cx="164592" cy="164592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885432" y="50749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execution; fast, immediate edit-run cycle</a:t>
            </a:r>
            <a:endParaRPr lang="en-US" sz="1150" dirty="0"/>
          </a:p>
        </p:txBody>
      </p:sp>
      <p:sp>
        <p:nvSpPr>
          <p:cNvPr id="51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000" dirty="0"/>
          </a:p>
        </p:txBody>
      </p:sp>
      <p:sp>
        <p:nvSpPr>
          <p:cNvPr id="52" name="Text 3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Environment &amp; Execution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both compiled and interpreted — source is compiled to bytecode, then the Python Virtual Machine interprets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" y="1965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icons/fi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1305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2587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source.py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7552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 code</a:t>
            </a:r>
            <a:endParaRPr lang="en-US" sz="850" dirty="0"/>
          </a:p>
        </p:txBody>
      </p:sp>
      <p:pic>
        <p:nvPicPr>
          <p:cNvPr id="9" name="Image 1" descr="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54203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026664" y="1965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D43B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icons/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56" y="213055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18104" y="2587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118104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to bytecode</a:t>
            </a:r>
            <a:endParaRPr lang="en-US" sz="850" dirty="0"/>
          </a:p>
        </p:txBody>
      </p:sp>
      <p:pic>
        <p:nvPicPr>
          <p:cNvPr id="14" name="Image 3" descr="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542032"/>
            <a:ext cx="219456" cy="21945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157216" y="1965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4" descr="icons/fi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08" y="2130552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48656" y="2587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.pyc Bytecode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248656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Platform-independent</a:t>
            </a:r>
            <a:endParaRPr lang="en-US" sz="850" dirty="0"/>
          </a:p>
        </p:txBody>
      </p:sp>
      <p:pic>
        <p:nvPicPr>
          <p:cNvPr id="19" name="Image 5" descr="icons/arrow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4" y="2542032"/>
            <a:ext cx="219456" cy="219456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287768" y="1965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D43B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6" descr="icons/chip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860" y="2130552"/>
            <a:ext cx="402336" cy="40233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79208" y="2587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PVM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7379208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Machine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bytecode</a:t>
            </a:r>
            <a:endParaRPr lang="en-US" sz="850" dirty="0"/>
          </a:p>
        </p:txBody>
      </p:sp>
      <p:pic>
        <p:nvPicPr>
          <p:cNvPr id="24" name="Image 7" descr="icons/arrow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2542032"/>
            <a:ext cx="219456" cy="219456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418320" y="1965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8" descr="icons/play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4412" y="2130552"/>
            <a:ext cx="402336" cy="40233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509760" y="2587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50" dirty="0"/>
          </a:p>
        </p:txBody>
      </p:sp>
      <p:sp>
        <p:nvSpPr>
          <p:cNvPr id="28" name="Text 17"/>
          <p:cNvSpPr/>
          <p:nvPr/>
        </p:nvSpPr>
        <p:spPr>
          <a:xfrm>
            <a:off x="950976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runs</a:t>
            </a:r>
            <a:endParaRPr lang="en-US" sz="850" dirty="0"/>
          </a:p>
        </p:txBody>
      </p:sp>
      <p:sp>
        <p:nvSpPr>
          <p:cNvPr id="29" name="Shape 18"/>
          <p:cNvSpPr/>
          <p:nvPr/>
        </p:nvSpPr>
        <p:spPr>
          <a:xfrm>
            <a:off x="457200" y="3749040"/>
            <a:ext cx="3657600" cy="2651760"/>
          </a:xfrm>
          <a:prstGeom prst="roundRect">
            <a:avLst>
              <a:gd name="adj" fmla="val 3448"/>
            </a:avLst>
          </a:prstGeom>
          <a:solidFill>
            <a:srgbClr val="244A6B"/>
          </a:solidFill>
          <a:ln/>
        </p:spPr>
      </p:sp>
      <p:sp>
        <p:nvSpPr>
          <p:cNvPr id="30" name="Shape 19"/>
          <p:cNvSpPr/>
          <p:nvPr/>
        </p:nvSpPr>
        <p:spPr>
          <a:xfrm>
            <a:off x="713232" y="4005072"/>
            <a:ext cx="41148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31" name="Text 20"/>
          <p:cNvSpPr/>
          <p:nvPr/>
        </p:nvSpPr>
        <p:spPr>
          <a:xfrm>
            <a:off x="713232" y="41330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Implementations</a:t>
            </a:r>
            <a:endParaRPr lang="en-US" sz="1500" dirty="0"/>
          </a:p>
        </p:txBody>
      </p:sp>
      <p:sp>
        <p:nvSpPr>
          <p:cNvPr id="32" name="Text 21"/>
          <p:cNvSpPr/>
          <p:nvPr/>
        </p:nvSpPr>
        <p:spPr>
          <a:xfrm>
            <a:off x="713232" y="461772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(standard) · PyPy (JIT, faster) · Jython (JVM) · IronPython (.NET)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4434840" y="3749040"/>
            <a:ext cx="3657600" cy="2651760"/>
          </a:xfrm>
          <a:prstGeom prst="roundRect">
            <a:avLst>
              <a:gd name="adj" fmla="val 3448"/>
            </a:avLst>
          </a:prstGeom>
          <a:solidFill>
            <a:srgbClr val="244A6B"/>
          </a:solidFill>
          <a:ln/>
        </p:spPr>
      </p:sp>
      <p:sp>
        <p:nvSpPr>
          <p:cNvPr id="34" name="Shape 23"/>
          <p:cNvSpPr/>
          <p:nvPr/>
        </p:nvSpPr>
        <p:spPr>
          <a:xfrm>
            <a:off x="4690872" y="4005072"/>
            <a:ext cx="41148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35" name="Text 24"/>
          <p:cNvSpPr/>
          <p:nvPr/>
        </p:nvSpPr>
        <p:spPr>
          <a:xfrm>
            <a:off x="4690872" y="41330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to Run Code</a:t>
            </a:r>
            <a:endParaRPr lang="en-US" sz="1500" dirty="0"/>
          </a:p>
        </p:txBody>
      </p:sp>
      <p:sp>
        <p:nvSpPr>
          <p:cNvPr id="36" name="Text 25"/>
          <p:cNvSpPr/>
          <p:nvPr/>
        </p:nvSpPr>
        <p:spPr>
          <a:xfrm>
            <a:off x="4690872" y="461772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REPL  ·  python file.py  ·  VS Code / PyCharm / Jupyter  ·  Google Colab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8412480" y="3749040"/>
            <a:ext cx="3657600" cy="2651760"/>
          </a:xfrm>
          <a:prstGeom prst="roundRect">
            <a:avLst>
              <a:gd name="adj" fmla="val 3448"/>
            </a:avLst>
          </a:prstGeom>
          <a:solidFill>
            <a:srgbClr val="244A6B"/>
          </a:solidFill>
          <a:ln/>
        </p:spPr>
      </p:sp>
      <p:sp>
        <p:nvSpPr>
          <p:cNvPr id="38" name="Shape 27"/>
          <p:cNvSpPr/>
          <p:nvPr/>
        </p:nvSpPr>
        <p:spPr>
          <a:xfrm>
            <a:off x="8668512" y="4005072"/>
            <a:ext cx="41148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39" name="Text 28"/>
          <p:cNvSpPr/>
          <p:nvPr/>
        </p:nvSpPr>
        <p:spPr>
          <a:xfrm>
            <a:off x="8668512" y="41330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8668512" y="461772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python.org or Anaconda  ·  python --version  ·  Virtual envs via venv  ·  pip installs packages from PyPI</a:t>
            </a:r>
            <a:endParaRPr lang="en-US" sz="1150" dirty="0"/>
          </a:p>
        </p:txBody>
      </p:sp>
      <p:sp>
        <p:nvSpPr>
          <p:cNvPr id="41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Python Program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6035040" cy="4892040"/>
          </a:xfrm>
          <a:prstGeom prst="roundRect">
            <a:avLst>
              <a:gd name="adj" fmla="val 1495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1508760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197864" y="1508760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add_numbers.py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Comment — documents the code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02082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Program to add two numbers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2585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2496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Input — read text from the user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273405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 first number: '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 second number: '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20954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472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Variables — convert text to numbers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368503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(num1)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9227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(num2)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39826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Expression — add the two numbers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63600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 + num2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511149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Output — display the result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349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'The sum is:'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total)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20840" y="1325880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325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51192" y="1280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51192" y="16002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# — ignored by Python, explain the code to humans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20840" y="2258568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51192" y="22128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51192" y="25328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pauses and reads what the user types, as text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20840" y="3191256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51192" y="314553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51192" y="346557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data; int() converts text input into a whole number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720840" y="4123944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51192" y="407822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51192" y="439826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 operator combines the two variables into a result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720840" y="5056632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251192" y="501091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51192" y="53309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displays the final result on the screen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Example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program that adds two numbers using basic input and output.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92840" cy="2377440"/>
          </a:xfrm>
          <a:prstGeom prst="roundRect">
            <a:avLst>
              <a:gd name="adj" fmla="val 3077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1783080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783080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add_numbers.py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039112"/>
            <a:ext cx="10652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Program to add two numbers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295144"/>
            <a:ext cx="10652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10652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(input(</a:t>
            </a:r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 first number: '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807208"/>
            <a:ext cx="10652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(input(</a:t>
            </a:r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 second number: '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10652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319272"/>
            <a:ext cx="10652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 + num2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3575304"/>
            <a:ext cx="10652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'The sum is:'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total)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590288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0D1B0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54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Enter first number: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Enter second number: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sum is: 20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Used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4590288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22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4782312"/>
            <a:ext cx="164592" cy="16459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748272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reads what the user types, as text</a:t>
            </a:r>
            <a:endParaRPr lang="en-US" sz="1200" dirty="0"/>
          </a:p>
        </p:txBody>
      </p:sp>
      <p:pic>
        <p:nvPicPr>
          <p:cNvPr id="24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148072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48272" y="5074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converts that text into a whole number</a:t>
            </a:r>
            <a:endParaRPr lang="en-US" sz="1200" dirty="0"/>
          </a:p>
        </p:txBody>
      </p:sp>
      <p:pic>
        <p:nvPicPr>
          <p:cNvPr id="26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513832"/>
            <a:ext cx="164592" cy="1645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48272" y="5440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operator adds the two numeric values</a:t>
            </a:r>
            <a:endParaRPr lang="en-US" sz="1200" dirty="0"/>
          </a:p>
        </p:txBody>
      </p:sp>
      <p:pic>
        <p:nvPicPr>
          <p:cNvPr id="28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879592"/>
            <a:ext cx="164592" cy="16459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48272" y="5806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displays the result on screen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Example Code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pic>
        <p:nvPicPr>
          <p:cNvPr id="3" name="Image 0" descr="icons/python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373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Data Types, Variables &amp; Operators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2026-08-06T13:11:51Z</dcterms:created>
  <dcterms:modified xsi:type="dcterms:W3CDTF">2026-08-06T13:11:51Z</dcterms:modified>
</cp:coreProperties>
</file>