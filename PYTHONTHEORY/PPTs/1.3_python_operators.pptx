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in order: True, True, False, True. Walk through the precedence for each line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607040" y="14630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418320" y="265176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881360" y="37490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784080" y="457200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0" y="4572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FOUNDATIONS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1945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Operators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F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 •  Relational  •  Logical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Python Workshop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Operators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  //  %  **  and their edge cases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697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Operators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63040" y="30632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!=  &gt;  &lt;  &gt;=  &lt;=  and chained comparisons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749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63040" y="41148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and, or, not, short-circuit evaluation, falsy values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4800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Dive: == vs is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63040" y="51663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equality versus object identity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Operators  |  Graduate Workshop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Operators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02336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210312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+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Sums two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-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of two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*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of two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/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division — always returns a 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Division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//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rounded down to nearest integer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%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Remainder of division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**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raised to the power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 and b are placeholders for any numeric operands (int, float, complex).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Operators  |  Graduate Workshop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GOTCHAS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Arithmetic: Watch Out For…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always returns a float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013A4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76272"/>
            <a:ext cx="47548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= 10, 5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/ b)    # 2.0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// b)   #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 division rounds toward −∞, and % follows the divisor's sign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013A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736592"/>
            <a:ext cx="4754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print(-7 // 2)   # -4  (not -3)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print(-7 % 2)    #  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EAF6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trips students 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many languages (C, Java), integer division truncates toward zero. Python's // always rounds toward negative infinity.</a:t>
            </a:r>
            <a:endParaRPr lang="en-US" sz="1350" dirty="0"/>
          </a:p>
          <a:p>
            <a:pPr algn="l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a useful identity intact: a == (a // b) * b + (a % b) always holds.</a:t>
            </a:r>
            <a:endParaRPr lang="en-US" sz="1350" dirty="0"/>
          </a:p>
          <a:p>
            <a:pPr algn="l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returns a float even when the result is whole, e.g. 10 / 2 gives 5.0, not 5.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Operators  |  Graduate Workshop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(Comparison) Operators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24612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2103120"/>
                <a:gridCol w="4937760"/>
              </a:tblGrid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== b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values are equal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 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!= b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values are not equal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&gt; b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 is larger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&lt; b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 is smaller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or equal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&gt;= b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 is larger or equal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or equal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&lt;= b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 is smaller or equal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834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13A4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148072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10, 20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== y)   # False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&lt; y)    # True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&gt;= 10)  # True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Operators  |  Graduate Workshop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EXTRAS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Relational: A Nice Surprise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Chained comparisons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lets you chain relational operators the way math notation does.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013A4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62072"/>
            <a:ext cx="1060704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 &lt; x &lt; 20)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as (1 &lt; x) and (x &lt; 20)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9834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AF6F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tip: 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C/Java students often write chained conditions as 1 &lt; x &lt; 20 out of habit — in those languages it silently compiles but means something else entirely. In Python it just works as expected.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Operators  |  Graduate Workshop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192024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2103120"/>
                <a:gridCol w="493776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and 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only if both operands are truthy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or 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at least one operand is truthy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Inverts the Boolean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spells out and / or / not — there's no &amp;&amp;, ||, or ! like in C or Java.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013A4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370832"/>
            <a:ext cx="1060704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25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has_id = True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 and has_id: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print("Entry allowed")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print("Entry denied")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Operators  |  Graduate Workshop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TOPIC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Dive: == vs 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EAF6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equality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two objects hold the same value?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object's __eq__ method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comparing data: numbers, strings, lists, custom objects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48056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013A4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645152"/>
            <a:ext cx="42062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[1, 2, 3]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== b)  # True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013A40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67512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identity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75120" y="2880360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F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two names pointing to the same object in memory?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F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id(a) to id(b)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F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None, True, False — and checking shared references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448056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025159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4645152"/>
            <a:ext cx="42062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[1, 2, 3]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is b)  # False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Operators  |  Graduate Workshop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TOPIC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== vs is: Practical Guidance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</a:t>
            </a:r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value comparison — small-int and string caching make it unreliable. Use </a:t>
            </a:r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for </a:t>
            </a:r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to check shared references.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small-int cache gotcha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013A4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456432"/>
            <a:ext cx="47548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100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100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is y)   # True  (cached)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1000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1000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is y)   # False (usually)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idiomatic None check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329184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013A4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3456432"/>
            <a:ext cx="50292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None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value is None:       # preferred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value")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value == None:      # works, but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value")  # not idiomatic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Operators  |  Graduate Workshop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Precedence Cheat Sheet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64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240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/  //  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84378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8163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3924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!=  &gt;  &lt;  &gt;=  &lt;=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9959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9684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5445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5120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5742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 → lowest, among today's operators)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309360" y="210312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013A40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2267712"/>
            <a:ext cx="484632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2 + 3 * 2 &gt; 5 and not False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3 * 2       -&gt; 6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2 + 6       -&gt; 8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8 &gt; 5       -&gt; True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not False   -&gt; True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5) True and True -&gt; True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# True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Operators  |  Graduate Workshop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Exercise — Predict the Output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013A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01952"/>
            <a:ext cx="106070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b, c = 8, 3, 8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&gt; b and a == c)      # ?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% b == 2 or c &lt; b)   # ?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 (a == c))          # ?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print((a - b) ** 2 &gt;= 20)    # 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26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to predict each line before revealing the answers.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  True     False     True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Operators  |  Graduate Workshop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20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57607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760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607040" y="640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66960" y="13716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F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control flow — if / elif / else, using everything we covered today.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2026-08-13T07:33:42Z</dcterms:created>
  <dcterms:modified xsi:type="dcterms:W3CDTF">2026-08-13T07:33:42Z</dcterms:modified>
</cp:coreProperties>
</file>