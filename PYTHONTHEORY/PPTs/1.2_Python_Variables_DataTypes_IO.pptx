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4.png"/><Relationship Id="rId6" Type="http://schemas.openxmlformats.org/officeDocument/2006/relationships/image" Target="../media/image-2-4.png"/><Relationship Id="rId7" Type="http://schemas.openxmlformats.org/officeDocument/2006/relationships/image" Target="../media/image-2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image" Target="../media/image-5-6.png"/><Relationship Id="rId7" Type="http://schemas.openxmlformats.org/officeDocument/2006/relationships/image" Target="../media/image-5-2.png"/><Relationship Id="rId8" Type="http://schemas.openxmlformats.org/officeDocument/2006/relationships/image" Target="../media/image-5-2.png"/><Relationship Id="rId9" Type="http://schemas.openxmlformats.org/officeDocument/2006/relationships/image" Target="../media/image-5-2.png"/><Relationship Id="rId10" Type="http://schemas.openxmlformats.org/officeDocument/2006/relationships/image" Target="../media/image-5-2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30699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657600" cy="3657600"/>
          </a:xfrm>
          <a:prstGeom prst="ellipse">
            <a:avLst/>
          </a:prstGeom>
          <a:solidFill>
            <a:srgbClr val="FFD43B">
              <a:alpha val="15000"/>
            </a:srgbClr>
          </a:solidFill>
          <a:ln/>
        </p:spPr>
      </p:sp>
      <p:pic>
        <p:nvPicPr>
          <p:cNvPr id="4" name="Image 0" descr="icons/python_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0584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286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VARIABLES, DATA TYPES &amp; I/O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68680" y="31272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Declaration, Initialization, Data Types, Type Conversion &amp; Input/Output in Python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68680" y="3794760"/>
            <a:ext cx="2926080" cy="0"/>
          </a:xfrm>
          <a:prstGeom prst="line">
            <a:avLst/>
          </a:prstGeom>
          <a:noFill/>
          <a:ln w="25400">
            <a:solidFill>
              <a:srgbClr val="30699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977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Reema Thareja - Python Programming: A Problem Solving Approach, OUP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6263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Course  |  Module 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Variables: Declaration &amp; Initialization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48640" cy="54864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3444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4F6F8"/>
          </a:solidFill>
          <a:ln w="12700">
            <a:solidFill>
              <a:srgbClr val="DCE3E9"/>
            </a:solidFill>
            <a:prstDash val="solid"/>
          </a:ln>
        </p:spPr>
      </p:sp>
      <p:pic>
        <p:nvPicPr>
          <p:cNvPr id="5" name="Image 0" descr="icons/ta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9903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88720" y="173736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memory location used to store a value that a program can reference and manipulate.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35040" y="1234440"/>
            <a:ext cx="5669280" cy="1417320"/>
          </a:xfrm>
          <a:prstGeom prst="roundRect">
            <a:avLst>
              <a:gd name="adj" fmla="val 6452"/>
            </a:avLst>
          </a:prstGeom>
          <a:solidFill>
            <a:srgbClr val="F4F6F8"/>
          </a:solidFill>
          <a:ln w="12700">
            <a:solidFill>
              <a:srgbClr val="DCE3E9"/>
            </a:solidFill>
            <a:prstDash val="solid"/>
          </a:ln>
        </p:spPr>
      </p:sp>
      <p:pic>
        <p:nvPicPr>
          <p:cNvPr id="9" name="Image 1" descr="icons/equal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173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66560" y="13990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Declaration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766560" y="17373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has no separate declaration keyword - a variable is declared the moment it's assigned a value.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2788920"/>
            <a:ext cx="11247120" cy="1097280"/>
          </a:xfrm>
          <a:prstGeom prst="roundRect">
            <a:avLst>
              <a:gd name="adj" fmla="val 8333"/>
            </a:avLst>
          </a:prstGeom>
          <a:solidFill>
            <a:srgbClr val="1E3D59"/>
          </a:solidFill>
          <a:ln/>
        </p:spPr>
      </p:sp>
      <p:pic>
        <p:nvPicPr>
          <p:cNvPr id="13" name="Image 2" descr="icons/exchang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175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Initialization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32918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the first value to a variable at the time it is created - in Python, declaration and initialization happen together, in a single statement.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5720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for Naming Variables</a:t>
            </a:r>
            <a:endParaRPr lang="en-US" sz="1500" dirty="0"/>
          </a:p>
        </p:txBody>
      </p:sp>
      <p:pic>
        <p:nvPicPr>
          <p:cNvPr id="17" name="Image 3" descr="icon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44568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9808" y="447141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begin with a letter (A-Z, a-z) or an underscore ( _ )</a:t>
            </a:r>
            <a:endParaRPr lang="en-US" sz="1200" dirty="0"/>
          </a:p>
        </p:txBody>
      </p:sp>
      <p:pic>
        <p:nvPicPr>
          <p:cNvPr id="19" name="Image 4" descr="icons/chec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928616"/>
            <a:ext cx="182880" cy="1828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49808" y="485546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contain letters, digits, and underscores - no spaces or special symbols</a:t>
            </a:r>
            <a:endParaRPr lang="en-US" sz="1200" dirty="0"/>
          </a:p>
        </p:txBody>
      </p:sp>
      <p:pic>
        <p:nvPicPr>
          <p:cNvPr id="21" name="Image 5" descr="icons/check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5312664"/>
            <a:ext cx="182880" cy="1828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49808" y="52395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a Python keyword (e.g., if, for, class)</a:t>
            </a:r>
            <a:endParaRPr lang="en-US" sz="1200" dirty="0"/>
          </a:p>
        </p:txBody>
      </p:sp>
      <p:pic>
        <p:nvPicPr>
          <p:cNvPr id="23" name="Image 6" descr="icons/check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696712"/>
            <a:ext cx="182880" cy="1828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49808" y="5623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Case-sensitive - Age and age are different variables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6400800" y="4114800"/>
            <a:ext cx="5303520" cy="2331720"/>
          </a:xfrm>
          <a:prstGeom prst="roundRect">
            <a:avLst>
              <a:gd name="adj" fmla="val 3137"/>
            </a:avLst>
          </a:prstGeom>
          <a:solidFill>
            <a:srgbClr val="1B2733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26" name="Shape 17"/>
          <p:cNvSpPr/>
          <p:nvPr/>
        </p:nvSpPr>
        <p:spPr>
          <a:xfrm>
            <a:off x="6583680" y="4261104"/>
            <a:ext cx="118872" cy="118872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7" name="Shape 18"/>
          <p:cNvSpPr/>
          <p:nvPr/>
        </p:nvSpPr>
        <p:spPr>
          <a:xfrm>
            <a:off x="6812280" y="4261104"/>
            <a:ext cx="118872" cy="118872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8" name="Shape 19"/>
          <p:cNvSpPr/>
          <p:nvPr/>
        </p:nvSpPr>
        <p:spPr>
          <a:xfrm>
            <a:off x="7040880" y="4261104"/>
            <a:ext cx="118872" cy="118872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9" name="Text 20"/>
          <p:cNvSpPr/>
          <p:nvPr/>
        </p:nvSpPr>
        <p:spPr>
          <a:xfrm>
            <a:off x="8412480" y="42062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vars.py</a:t>
            </a:r>
            <a:endParaRPr lang="en-US" sz="1050" dirty="0"/>
          </a:p>
        </p:txBody>
      </p:sp>
      <p:sp>
        <p:nvSpPr>
          <p:cNvPr id="30" name="Text 21"/>
          <p:cNvSpPr/>
          <p:nvPr/>
        </p:nvSpPr>
        <p:spPr>
          <a:xfrm>
            <a:off x="6675120" y="452628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Declaration + initialization in one step</a:t>
            </a:r>
            <a:endParaRPr lang="en-US" sz="1150" dirty="0"/>
          </a:p>
        </p:txBody>
      </p:sp>
      <p:sp>
        <p:nvSpPr>
          <p:cNvPr id="31" name="Text 22"/>
          <p:cNvSpPr/>
          <p:nvPr/>
        </p:nvSpPr>
        <p:spPr>
          <a:xfrm>
            <a:off x="6675120" y="4750308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'Asha'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6675120" y="4974336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50" dirty="0"/>
          </a:p>
        </p:txBody>
      </p:sp>
      <p:sp>
        <p:nvSpPr>
          <p:cNvPr id="33" name="Text 24"/>
          <p:cNvSpPr/>
          <p:nvPr/>
        </p:nvSpPr>
        <p:spPr>
          <a:xfrm>
            <a:off x="6675120" y="5198364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</p:txBody>
      </p:sp>
      <p:sp>
        <p:nvSpPr>
          <p:cNvPr id="34" name="Text 25"/>
          <p:cNvSpPr/>
          <p:nvPr/>
        </p:nvSpPr>
        <p:spPr>
          <a:xfrm>
            <a:off x="6675120" y="542239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Reassigning changes the value (and type)</a:t>
            </a:r>
            <a:endParaRPr lang="en-US" sz="1150" dirty="0"/>
          </a:p>
        </p:txBody>
      </p:sp>
      <p:sp>
        <p:nvSpPr>
          <p:cNvPr id="35" name="Text 26"/>
          <p:cNvSpPr/>
          <p:nvPr/>
        </p:nvSpPr>
        <p:spPr>
          <a:xfrm>
            <a:off x="6675120" y="564642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'twenty'</a:t>
            </a:r>
            <a:endParaRPr lang="en-US" sz="1150" dirty="0"/>
          </a:p>
        </p:txBody>
      </p:sp>
      <p:sp>
        <p:nvSpPr>
          <p:cNvPr id="36" name="Text 27"/>
          <p:cNvSpPr/>
          <p:nvPr/>
        </p:nvSpPr>
        <p:spPr>
          <a:xfrm>
            <a:off x="6675120" y="5870448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6675120" y="6094476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(name, age)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Initialization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Initialization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48640" cy="54864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supports several ways to assign initial values to variables.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810512"/>
            <a:ext cx="457200" cy="54864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93852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Single Assignment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" y="26060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variable, one value - the most common form.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13232" y="3611880"/>
            <a:ext cx="3108960" cy="777240"/>
          </a:xfrm>
          <a:prstGeom prst="roundRect">
            <a:avLst>
              <a:gd name="adj" fmla="val 8235"/>
            </a:avLst>
          </a:prstGeom>
          <a:solidFill>
            <a:srgbClr val="1B2733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8679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45537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3232" y="4846320"/>
            <a:ext cx="3108960" cy="941832"/>
          </a:xfrm>
          <a:prstGeom prst="roundRect">
            <a:avLst>
              <a:gd name="adj" fmla="val 5825"/>
            </a:avLst>
          </a:prstGeom>
          <a:solidFill>
            <a:srgbClr val="0D1B0F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" y="4956048"/>
            <a:ext cx="28163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F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print(x)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F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55448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53712" y="1810512"/>
            <a:ext cx="457200" cy="54864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16" name="Text 14"/>
          <p:cNvSpPr/>
          <p:nvPr/>
        </p:nvSpPr>
        <p:spPr>
          <a:xfrm>
            <a:off x="4553712" y="193852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Multiple Assignment (Same Value)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53712" y="26060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the same value to several variables at once, chained with =.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53712" y="3611880"/>
            <a:ext cx="3108960" cy="777240"/>
          </a:xfrm>
          <a:prstGeom prst="roundRect">
            <a:avLst>
              <a:gd name="adj" fmla="val 8235"/>
            </a:avLst>
          </a:prstGeom>
          <a:solidFill>
            <a:srgbClr val="1B2733"/>
          </a:solidFill>
          <a:ln/>
        </p:spPr>
      </p:sp>
      <p:sp>
        <p:nvSpPr>
          <p:cNvPr id="19" name="Text 17"/>
          <p:cNvSpPr/>
          <p:nvPr/>
        </p:nvSpPr>
        <p:spPr>
          <a:xfrm>
            <a:off x="4736592" y="38679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53712" y="45537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53712" y="4846320"/>
            <a:ext cx="3108960" cy="941832"/>
          </a:xfrm>
          <a:prstGeom prst="roundRect">
            <a:avLst>
              <a:gd name="adj" fmla="val 5825"/>
            </a:avLst>
          </a:prstGeom>
          <a:solidFill>
            <a:srgbClr val="0D1B0F"/>
          </a:solidFill>
          <a:ln/>
        </p:spPr>
      </p:sp>
      <p:sp>
        <p:nvSpPr>
          <p:cNvPr id="22" name="Text 20"/>
          <p:cNvSpPr/>
          <p:nvPr/>
        </p:nvSpPr>
        <p:spPr>
          <a:xfrm>
            <a:off x="4700016" y="4956048"/>
            <a:ext cx="28163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F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print(a, b, c)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F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10 10 10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38160" y="155448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94192" y="1810512"/>
            <a:ext cx="457200" cy="54864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25" name="Text 23"/>
          <p:cNvSpPr/>
          <p:nvPr/>
        </p:nvSpPr>
        <p:spPr>
          <a:xfrm>
            <a:off x="8394192" y="193852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Multiple Assignment (Different Values)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394192" y="26060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different values to multiple variables in a single line.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394192" y="3611880"/>
            <a:ext cx="3108960" cy="777240"/>
          </a:xfrm>
          <a:prstGeom prst="roundRect">
            <a:avLst>
              <a:gd name="adj" fmla="val 8235"/>
            </a:avLst>
          </a:prstGeom>
          <a:solidFill>
            <a:srgbClr val="1B2733"/>
          </a:solidFill>
          <a:ln/>
        </p:spPr>
      </p:sp>
      <p:sp>
        <p:nvSpPr>
          <p:cNvPr id="28" name="Text 26"/>
          <p:cNvSpPr/>
          <p:nvPr/>
        </p:nvSpPr>
        <p:spPr>
          <a:xfrm>
            <a:off x="8577072" y="38679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94192" y="45537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394192" y="4846320"/>
            <a:ext cx="3108960" cy="941832"/>
          </a:xfrm>
          <a:prstGeom prst="roundRect">
            <a:avLst>
              <a:gd name="adj" fmla="val 5825"/>
            </a:avLst>
          </a:prstGeom>
          <a:solidFill>
            <a:srgbClr val="0D1B0F"/>
          </a:solidFill>
          <a:ln/>
        </p:spPr>
      </p:sp>
      <p:sp>
        <p:nvSpPr>
          <p:cNvPr id="31" name="Text 29"/>
          <p:cNvSpPr/>
          <p:nvPr/>
        </p:nvSpPr>
        <p:spPr>
          <a:xfrm>
            <a:off x="8540496" y="4956048"/>
            <a:ext cx="28163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F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print(a, b, c)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F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10 20 30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Initialization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Available Data Types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48640" cy="54864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611880" cy="1536192"/>
          </a:xfrm>
          <a:prstGeom prst="roundRect">
            <a:avLst>
              <a:gd name="adj" fmla="val 5357"/>
            </a:avLst>
          </a:prstGeom>
          <a:solidFill>
            <a:srgbClr val="F4F6F8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420624" cy="420624"/>
          </a:xfrm>
          <a:prstGeom prst="ellipse">
            <a:avLst/>
          </a:prstGeom>
          <a:solidFill>
            <a:srgbClr val="1E3D59"/>
          </a:solidFill>
          <a:ln/>
        </p:spPr>
      </p:sp>
      <p:pic>
        <p:nvPicPr>
          <p:cNvPr id="6" name="Image 0" descr="icons/in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56362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42646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70432" y="17373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2121408"/>
            <a:ext cx="3246120" cy="530352"/>
          </a:xfrm>
          <a:prstGeom prst="roundRect">
            <a:avLst>
              <a:gd name="adj" fmla="val 8621"/>
            </a:avLst>
          </a:prstGeom>
          <a:solidFill>
            <a:srgbClr val="1B2733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121408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97680" y="1280160"/>
            <a:ext cx="3611880" cy="1536192"/>
          </a:xfrm>
          <a:prstGeom prst="roundRect">
            <a:avLst>
              <a:gd name="adj" fmla="val 5357"/>
            </a:avLst>
          </a:prstGeom>
          <a:solidFill>
            <a:srgbClr val="F4F6F8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80560" y="1463040"/>
            <a:ext cx="420624" cy="420624"/>
          </a:xfrm>
          <a:prstGeom prst="ellipse">
            <a:avLst/>
          </a:prstGeom>
          <a:solidFill>
            <a:srgbClr val="1E3D59"/>
          </a:solidFill>
          <a:ln/>
        </p:spPr>
      </p:sp>
      <p:pic>
        <p:nvPicPr>
          <p:cNvPr id="13" name="Image 1" descr="icons/float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1563624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10912" y="142646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float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010912" y="17373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numbers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480560" y="2121408"/>
            <a:ext cx="3246120" cy="530352"/>
          </a:xfrm>
          <a:prstGeom prst="roundRect">
            <a:avLst>
              <a:gd name="adj" fmla="val 8621"/>
            </a:avLst>
          </a:prstGeom>
          <a:solidFill>
            <a:srgbClr val="1B2733"/>
          </a:solidFill>
          <a:ln/>
        </p:spPr>
      </p:sp>
      <p:sp>
        <p:nvSpPr>
          <p:cNvPr id="17" name="Text 13"/>
          <p:cNvSpPr/>
          <p:nvPr/>
        </p:nvSpPr>
        <p:spPr>
          <a:xfrm>
            <a:off x="4617720" y="2121408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= 99.99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38160" y="1280160"/>
            <a:ext cx="3611880" cy="1536192"/>
          </a:xfrm>
          <a:prstGeom prst="roundRect">
            <a:avLst>
              <a:gd name="adj" fmla="val 5357"/>
            </a:avLst>
          </a:prstGeom>
          <a:solidFill>
            <a:srgbClr val="F4F6F8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321040" y="1463040"/>
            <a:ext cx="420624" cy="420624"/>
          </a:xfrm>
          <a:prstGeom prst="ellipse">
            <a:avLst/>
          </a:prstGeom>
          <a:solidFill>
            <a:srgbClr val="1E3D59"/>
          </a:solidFill>
          <a:ln/>
        </p:spPr>
      </p:sp>
      <p:pic>
        <p:nvPicPr>
          <p:cNvPr id="20" name="Image 2" descr="icons/complex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1563624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851392" y="142646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851392" y="17373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+ imaginary parts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8321040" y="2121408"/>
            <a:ext cx="3246120" cy="530352"/>
          </a:xfrm>
          <a:prstGeom prst="roundRect">
            <a:avLst>
              <a:gd name="adj" fmla="val 8621"/>
            </a:avLst>
          </a:prstGeom>
          <a:solidFill>
            <a:srgbClr val="1B2733"/>
          </a:solidFill>
          <a:ln/>
        </p:spPr>
      </p:sp>
      <p:sp>
        <p:nvSpPr>
          <p:cNvPr id="24" name="Text 19"/>
          <p:cNvSpPr/>
          <p:nvPr/>
        </p:nvSpPr>
        <p:spPr>
          <a:xfrm>
            <a:off x="8458200" y="2121408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3 + 4j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57200" y="3017520"/>
            <a:ext cx="3611880" cy="1536192"/>
          </a:xfrm>
          <a:prstGeom prst="roundRect">
            <a:avLst>
              <a:gd name="adj" fmla="val 5357"/>
            </a:avLst>
          </a:prstGeom>
          <a:solidFill>
            <a:srgbClr val="F4F6F8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40080" y="3200400"/>
            <a:ext cx="420624" cy="420624"/>
          </a:xfrm>
          <a:prstGeom prst="ellipse">
            <a:avLst/>
          </a:prstGeom>
          <a:solidFill>
            <a:srgbClr val="1E3D59"/>
          </a:solidFill>
          <a:ln/>
        </p:spPr>
      </p:sp>
      <p:pic>
        <p:nvPicPr>
          <p:cNvPr id="27" name="Image 3" descr="icons/bool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3300984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70432" y="316382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1170432" y="34747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640080" y="3858768"/>
            <a:ext cx="3246120" cy="530352"/>
          </a:xfrm>
          <a:prstGeom prst="roundRect">
            <a:avLst>
              <a:gd name="adj" fmla="val 8621"/>
            </a:avLst>
          </a:prstGeom>
          <a:solidFill>
            <a:srgbClr val="1B2733"/>
          </a:solidFill>
          <a:ln/>
        </p:spPr>
      </p:sp>
      <p:sp>
        <p:nvSpPr>
          <p:cNvPr id="31" name="Text 25"/>
          <p:cNvSpPr/>
          <p:nvPr/>
        </p:nvSpPr>
        <p:spPr>
          <a:xfrm>
            <a:off x="777240" y="3858768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is_valid = True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4297680" y="3017520"/>
            <a:ext cx="3611880" cy="1536192"/>
          </a:xfrm>
          <a:prstGeom prst="roundRect">
            <a:avLst>
              <a:gd name="adj" fmla="val 5357"/>
            </a:avLst>
          </a:prstGeom>
          <a:solidFill>
            <a:srgbClr val="F4F6F8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480560" y="3200400"/>
            <a:ext cx="420624" cy="420624"/>
          </a:xfrm>
          <a:prstGeom prst="ellipse">
            <a:avLst/>
          </a:prstGeom>
          <a:solidFill>
            <a:srgbClr val="1E3D59"/>
          </a:solidFill>
          <a:ln/>
        </p:spPr>
      </p:sp>
      <p:pic>
        <p:nvPicPr>
          <p:cNvPr id="34" name="Image 4" descr="icons/str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1144" y="3300984"/>
            <a:ext cx="219456" cy="21945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010912" y="316382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5010912" y="34747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characters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4480560" y="3858768"/>
            <a:ext cx="3246120" cy="530352"/>
          </a:xfrm>
          <a:prstGeom prst="roundRect">
            <a:avLst>
              <a:gd name="adj" fmla="val 8621"/>
            </a:avLst>
          </a:prstGeom>
          <a:solidFill>
            <a:srgbClr val="1B2733"/>
          </a:solidFill>
          <a:ln/>
        </p:spPr>
      </p:sp>
      <p:sp>
        <p:nvSpPr>
          <p:cNvPr id="38" name="Text 31"/>
          <p:cNvSpPr/>
          <p:nvPr/>
        </p:nvSpPr>
        <p:spPr>
          <a:xfrm>
            <a:off x="4617720" y="3858768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'Python'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8138160" y="3017520"/>
            <a:ext cx="3611880" cy="1536192"/>
          </a:xfrm>
          <a:prstGeom prst="roundRect">
            <a:avLst>
              <a:gd name="adj" fmla="val 5357"/>
            </a:avLst>
          </a:prstGeom>
          <a:solidFill>
            <a:srgbClr val="F4F6F8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8321040" y="3200400"/>
            <a:ext cx="420624" cy="420624"/>
          </a:xfrm>
          <a:prstGeom prst="ellipse">
            <a:avLst/>
          </a:prstGeom>
          <a:solidFill>
            <a:srgbClr val="1E3D59"/>
          </a:solidFill>
          <a:ln/>
        </p:spPr>
      </p:sp>
      <p:pic>
        <p:nvPicPr>
          <p:cNvPr id="41" name="Image 5" descr="icons/list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3300984"/>
            <a:ext cx="219456" cy="21945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851392" y="316382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</a:t>
            </a:r>
            <a:endParaRPr lang="en-US" sz="1500" dirty="0"/>
          </a:p>
        </p:txBody>
      </p:sp>
      <p:sp>
        <p:nvSpPr>
          <p:cNvPr id="43" name="Text 35"/>
          <p:cNvSpPr/>
          <p:nvPr/>
        </p:nvSpPr>
        <p:spPr>
          <a:xfrm>
            <a:off x="8851392" y="34747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mutable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>
            <a:off x="8321040" y="3858768"/>
            <a:ext cx="3246120" cy="530352"/>
          </a:xfrm>
          <a:prstGeom prst="roundRect">
            <a:avLst>
              <a:gd name="adj" fmla="val 8621"/>
            </a:avLst>
          </a:prstGeom>
          <a:solidFill>
            <a:srgbClr val="1B2733"/>
          </a:solidFill>
          <a:ln/>
        </p:spPr>
      </p:sp>
      <p:sp>
        <p:nvSpPr>
          <p:cNvPr id="45" name="Text 37"/>
          <p:cNvSpPr/>
          <p:nvPr/>
        </p:nvSpPr>
        <p:spPr>
          <a:xfrm>
            <a:off x="8458200" y="3858768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= [1, 2, 3]</a:t>
            </a:r>
            <a:endParaRPr lang="en-US" sz="1200" dirty="0"/>
          </a:p>
        </p:txBody>
      </p:sp>
      <p:sp>
        <p:nvSpPr>
          <p:cNvPr id="46" name="Shape 38"/>
          <p:cNvSpPr/>
          <p:nvPr/>
        </p:nvSpPr>
        <p:spPr>
          <a:xfrm>
            <a:off x="457200" y="4754880"/>
            <a:ext cx="3611880" cy="1536192"/>
          </a:xfrm>
          <a:prstGeom prst="roundRect">
            <a:avLst>
              <a:gd name="adj" fmla="val 5357"/>
            </a:avLst>
          </a:prstGeom>
          <a:solidFill>
            <a:srgbClr val="F4F6F8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640080" y="4937760"/>
            <a:ext cx="420624" cy="420624"/>
          </a:xfrm>
          <a:prstGeom prst="ellipse">
            <a:avLst/>
          </a:prstGeom>
          <a:solidFill>
            <a:srgbClr val="1E3D59"/>
          </a:solidFill>
          <a:ln/>
        </p:spPr>
      </p:sp>
      <p:pic>
        <p:nvPicPr>
          <p:cNvPr id="48" name="Image 6" descr="icons/tuple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5038344"/>
            <a:ext cx="219456" cy="219456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1170432" y="490118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</a:t>
            </a:r>
            <a:endParaRPr lang="en-US" sz="1500" dirty="0"/>
          </a:p>
        </p:txBody>
      </p:sp>
      <p:sp>
        <p:nvSpPr>
          <p:cNvPr id="50" name="Text 41"/>
          <p:cNvSpPr/>
          <p:nvPr/>
        </p:nvSpPr>
        <p:spPr>
          <a:xfrm>
            <a:off x="1170432" y="52120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immutable</a:t>
            </a:r>
            <a:endParaRPr lang="en-US" sz="1000" dirty="0"/>
          </a:p>
        </p:txBody>
      </p:sp>
      <p:sp>
        <p:nvSpPr>
          <p:cNvPr id="51" name="Shape 42"/>
          <p:cNvSpPr/>
          <p:nvPr/>
        </p:nvSpPr>
        <p:spPr>
          <a:xfrm>
            <a:off x="640080" y="5596128"/>
            <a:ext cx="3246120" cy="530352"/>
          </a:xfrm>
          <a:prstGeom prst="roundRect">
            <a:avLst>
              <a:gd name="adj" fmla="val 8621"/>
            </a:avLst>
          </a:prstGeom>
          <a:solidFill>
            <a:srgbClr val="1B2733"/>
          </a:solidFill>
          <a:ln/>
        </p:spPr>
      </p:sp>
      <p:sp>
        <p:nvSpPr>
          <p:cNvPr id="52" name="Text 43"/>
          <p:cNvSpPr/>
          <p:nvPr/>
        </p:nvSpPr>
        <p:spPr>
          <a:xfrm>
            <a:off x="777240" y="5596128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 = (4, 5)</a:t>
            </a:r>
            <a:endParaRPr lang="en-US" sz="1200" dirty="0"/>
          </a:p>
        </p:txBody>
      </p:sp>
      <p:sp>
        <p:nvSpPr>
          <p:cNvPr id="53" name="Shape 44"/>
          <p:cNvSpPr/>
          <p:nvPr/>
        </p:nvSpPr>
        <p:spPr>
          <a:xfrm>
            <a:off x="4297680" y="4754880"/>
            <a:ext cx="3611880" cy="1536192"/>
          </a:xfrm>
          <a:prstGeom prst="roundRect">
            <a:avLst>
              <a:gd name="adj" fmla="val 5357"/>
            </a:avLst>
          </a:prstGeom>
          <a:solidFill>
            <a:srgbClr val="F4F6F8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4480560" y="4937760"/>
            <a:ext cx="420624" cy="420624"/>
          </a:xfrm>
          <a:prstGeom prst="ellipse">
            <a:avLst/>
          </a:prstGeom>
          <a:solidFill>
            <a:srgbClr val="1E3D59"/>
          </a:solidFill>
          <a:ln/>
        </p:spPr>
      </p:sp>
      <p:pic>
        <p:nvPicPr>
          <p:cNvPr id="55" name="Image 7" descr="icons/dict_blu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1144" y="5038344"/>
            <a:ext cx="219456" cy="219456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5010912" y="490118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</a:t>
            </a:r>
            <a:endParaRPr lang="en-US" sz="1500" dirty="0"/>
          </a:p>
        </p:txBody>
      </p:sp>
      <p:sp>
        <p:nvSpPr>
          <p:cNvPr id="57" name="Text 47"/>
          <p:cNvSpPr/>
          <p:nvPr/>
        </p:nvSpPr>
        <p:spPr>
          <a:xfrm>
            <a:off x="5010912" y="52120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pairs</a:t>
            </a:r>
            <a:endParaRPr lang="en-US" sz="1000" dirty="0"/>
          </a:p>
        </p:txBody>
      </p:sp>
      <p:sp>
        <p:nvSpPr>
          <p:cNvPr id="58" name="Shape 48"/>
          <p:cNvSpPr/>
          <p:nvPr/>
        </p:nvSpPr>
        <p:spPr>
          <a:xfrm>
            <a:off x="4480560" y="5596128"/>
            <a:ext cx="3246120" cy="530352"/>
          </a:xfrm>
          <a:prstGeom prst="roundRect">
            <a:avLst>
              <a:gd name="adj" fmla="val 8621"/>
            </a:avLst>
          </a:prstGeom>
          <a:solidFill>
            <a:srgbClr val="1B2733"/>
          </a:solidFill>
          <a:ln/>
        </p:spPr>
      </p:sp>
      <p:sp>
        <p:nvSpPr>
          <p:cNvPr id="59" name="Text 49"/>
          <p:cNvSpPr/>
          <p:nvPr/>
        </p:nvSpPr>
        <p:spPr>
          <a:xfrm>
            <a:off x="4617720" y="5596128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{'a': 1}</a:t>
            </a:r>
            <a:endParaRPr lang="en-US" sz="1200" dirty="0"/>
          </a:p>
        </p:txBody>
      </p:sp>
      <p:sp>
        <p:nvSpPr>
          <p:cNvPr id="60" name="Shape 50"/>
          <p:cNvSpPr/>
          <p:nvPr/>
        </p:nvSpPr>
        <p:spPr>
          <a:xfrm>
            <a:off x="8138160" y="4754880"/>
            <a:ext cx="3611880" cy="1536192"/>
          </a:xfrm>
          <a:prstGeom prst="roundRect">
            <a:avLst>
              <a:gd name="adj" fmla="val 5357"/>
            </a:avLst>
          </a:prstGeom>
          <a:solidFill>
            <a:srgbClr val="F4F6F8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61" name="Shape 51"/>
          <p:cNvSpPr/>
          <p:nvPr/>
        </p:nvSpPr>
        <p:spPr>
          <a:xfrm>
            <a:off x="8321040" y="4937760"/>
            <a:ext cx="420624" cy="420624"/>
          </a:xfrm>
          <a:prstGeom prst="ellipse">
            <a:avLst/>
          </a:prstGeom>
          <a:solidFill>
            <a:srgbClr val="1E3D59"/>
          </a:solidFill>
          <a:ln/>
        </p:spPr>
      </p:sp>
      <p:pic>
        <p:nvPicPr>
          <p:cNvPr id="62" name="Image 8" descr="icons/set_blu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1624" y="5038344"/>
            <a:ext cx="219456" cy="219456"/>
          </a:xfrm>
          <a:prstGeom prst="rect">
            <a:avLst/>
          </a:prstGeom>
        </p:spPr>
      </p:pic>
      <p:sp>
        <p:nvSpPr>
          <p:cNvPr id="63" name="Text 52"/>
          <p:cNvSpPr/>
          <p:nvPr/>
        </p:nvSpPr>
        <p:spPr>
          <a:xfrm>
            <a:off x="8851392" y="490118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</a:t>
            </a:r>
            <a:endParaRPr lang="en-US" sz="1500" dirty="0"/>
          </a:p>
        </p:txBody>
      </p:sp>
      <p:sp>
        <p:nvSpPr>
          <p:cNvPr id="64" name="Text 53"/>
          <p:cNvSpPr/>
          <p:nvPr/>
        </p:nvSpPr>
        <p:spPr>
          <a:xfrm>
            <a:off x="8851392" y="52120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Unordered, unique items</a:t>
            </a:r>
            <a:endParaRPr lang="en-US" sz="1000" dirty="0"/>
          </a:p>
        </p:txBody>
      </p:sp>
      <p:sp>
        <p:nvSpPr>
          <p:cNvPr id="65" name="Shape 54"/>
          <p:cNvSpPr/>
          <p:nvPr/>
        </p:nvSpPr>
        <p:spPr>
          <a:xfrm>
            <a:off x="8321040" y="5596128"/>
            <a:ext cx="3246120" cy="530352"/>
          </a:xfrm>
          <a:prstGeom prst="roundRect">
            <a:avLst>
              <a:gd name="adj" fmla="val 8621"/>
            </a:avLst>
          </a:prstGeom>
          <a:solidFill>
            <a:srgbClr val="1B2733"/>
          </a:solidFill>
          <a:ln/>
        </p:spPr>
      </p:sp>
      <p:sp>
        <p:nvSpPr>
          <p:cNvPr id="66" name="Text 55"/>
          <p:cNvSpPr/>
          <p:nvPr/>
        </p:nvSpPr>
        <p:spPr>
          <a:xfrm>
            <a:off x="8458200" y="5596128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{1, 2, 3}</a:t>
            </a:r>
            <a:endParaRPr lang="en-US" sz="1200" dirty="0"/>
          </a:p>
        </p:txBody>
      </p:sp>
      <p:sp>
        <p:nvSpPr>
          <p:cNvPr id="67" name="Text 5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000" dirty="0"/>
          </a:p>
        </p:txBody>
      </p:sp>
      <p:sp>
        <p:nvSpPr>
          <p:cNvPr id="68" name="Text 57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Conversion: Implicit vs. Explicit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48640" cy="54864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25880"/>
            <a:ext cx="534924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5349240" cy="594360"/>
          </a:xfrm>
          <a:prstGeom prst="roundRect">
            <a:avLst>
              <a:gd name="adj" fmla="val 15385"/>
            </a:avLst>
          </a:prstGeom>
          <a:solidFill>
            <a:srgbClr val="1E3D5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45920"/>
            <a:ext cx="5349240" cy="274320"/>
          </a:xfrm>
          <a:prstGeom prst="rect">
            <a:avLst/>
          </a:prstGeom>
          <a:solidFill>
            <a:srgbClr val="1E3D59"/>
          </a:solidFill>
          <a:ln/>
        </p:spPr>
      </p:sp>
      <p:pic>
        <p:nvPicPr>
          <p:cNvPr id="7" name="Image 0" descr="icons/chi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4475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32588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IMPLICIT CONVERSION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31520" y="20574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automatically by Python - no function call needed</a:t>
            </a:r>
            <a:endParaRPr lang="en-US" sz="1200" dirty="0"/>
          </a:p>
        </p:txBody>
      </p:sp>
      <p:pic>
        <p:nvPicPr>
          <p:cNvPr id="10" name="Image 1" descr="icons/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78608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87552" y="248716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automatically converts a "smaller" numeric type to a "larger" one in mixed expressions</a:t>
            </a:r>
            <a:endParaRPr lang="en-US" sz="1150" dirty="0"/>
          </a:p>
        </p:txBody>
      </p:sp>
      <p:pic>
        <p:nvPicPr>
          <p:cNvPr id="12" name="Image 2" descr="icons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45536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87552" y="305409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Happens without any data or precision loss</a:t>
            </a:r>
            <a:endParaRPr lang="en-US" sz="1150" dirty="0"/>
          </a:p>
        </p:txBody>
      </p:sp>
      <p:pic>
        <p:nvPicPr>
          <p:cNvPr id="14" name="Image 3" descr="icon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712464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87552" y="3621024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case: int combined with float produces a float</a:t>
            </a:r>
            <a:endParaRPr lang="en-US" sz="1150" dirty="0"/>
          </a:p>
        </p:txBody>
      </p:sp>
      <p:pic>
        <p:nvPicPr>
          <p:cNvPr id="16" name="Image 4" descr="icons/chec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279392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87552" y="418795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explicit function call is required from the programmer</a:t>
            </a:r>
            <a:endParaRPr lang="en-US" sz="1150" dirty="0"/>
          </a:p>
        </p:txBody>
      </p:sp>
      <p:sp>
        <p:nvSpPr>
          <p:cNvPr id="18" name="Shape 11"/>
          <p:cNvSpPr/>
          <p:nvPr/>
        </p:nvSpPr>
        <p:spPr>
          <a:xfrm>
            <a:off x="731520" y="4846320"/>
            <a:ext cx="4800600" cy="1188720"/>
          </a:xfrm>
          <a:prstGeom prst="roundRect">
            <a:avLst>
              <a:gd name="adj" fmla="val 5385"/>
            </a:avLst>
          </a:prstGeom>
          <a:solidFill>
            <a:srgbClr val="1B2733"/>
          </a:solidFill>
          <a:ln/>
        </p:spPr>
      </p:sp>
      <p:sp>
        <p:nvSpPr>
          <p:cNvPr id="19" name="Text 12"/>
          <p:cNvSpPr/>
          <p:nvPr/>
        </p:nvSpPr>
        <p:spPr>
          <a:xfrm>
            <a:off x="914400" y="4983480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914400" y="5303520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float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914400" y="5623560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7.5 (float)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6355080" y="1325880"/>
            <a:ext cx="534924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6355080" y="1325880"/>
            <a:ext cx="5349240" cy="594360"/>
          </a:xfrm>
          <a:prstGeom prst="roundRect">
            <a:avLst>
              <a:gd name="adj" fmla="val 15385"/>
            </a:avLst>
          </a:prstGeom>
          <a:solidFill>
            <a:srgbClr val="306998"/>
          </a:solidFill>
          <a:ln/>
        </p:spPr>
      </p:sp>
      <p:sp>
        <p:nvSpPr>
          <p:cNvPr id="24" name="Shape 17"/>
          <p:cNvSpPr/>
          <p:nvPr/>
        </p:nvSpPr>
        <p:spPr>
          <a:xfrm>
            <a:off x="6355080" y="1645920"/>
            <a:ext cx="5349240" cy="274320"/>
          </a:xfrm>
          <a:prstGeom prst="rect">
            <a:avLst/>
          </a:prstGeom>
          <a:solidFill>
            <a:srgbClr val="306998"/>
          </a:solidFill>
          <a:ln/>
        </p:spPr>
      </p:sp>
      <p:pic>
        <p:nvPicPr>
          <p:cNvPr id="25" name="Image 5" descr="icons/exchang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1444752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40880" y="132588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EXPLICIT CONVERSION</a:t>
            </a:r>
            <a:endParaRPr lang="en-US" sz="1550" dirty="0"/>
          </a:p>
        </p:txBody>
      </p:sp>
      <p:sp>
        <p:nvSpPr>
          <p:cNvPr id="27" name="Text 19"/>
          <p:cNvSpPr/>
          <p:nvPr/>
        </p:nvSpPr>
        <p:spPr>
          <a:xfrm>
            <a:off x="6629400" y="20574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type casting - the programmer requests it</a:t>
            </a:r>
            <a:endParaRPr lang="en-US" sz="1200" dirty="0"/>
          </a:p>
        </p:txBody>
      </p:sp>
      <p:pic>
        <p:nvPicPr>
          <p:cNvPr id="28" name="Image 6" descr="icons/check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2578608"/>
            <a:ext cx="164592" cy="16459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885432" y="248716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programmer forces conversion using built-in functions</a:t>
            </a:r>
            <a:endParaRPr lang="en-US" sz="1150" dirty="0"/>
          </a:p>
        </p:txBody>
      </p:sp>
      <p:pic>
        <p:nvPicPr>
          <p:cNvPr id="30" name="Image 7" descr="icons/check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3145536"/>
            <a:ext cx="164592" cy="16459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885432" y="305409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functions: int(), float(), str(), bool()</a:t>
            </a:r>
            <a:endParaRPr lang="en-US" sz="1150" dirty="0"/>
          </a:p>
        </p:txBody>
      </p:sp>
      <p:pic>
        <p:nvPicPr>
          <p:cNvPr id="32" name="Image 8" descr="icons/check_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3712464"/>
            <a:ext cx="164592" cy="164592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6885432" y="3621024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converting input() text into numbers</a:t>
            </a:r>
            <a:endParaRPr lang="en-US" sz="1150" dirty="0"/>
          </a:p>
        </p:txBody>
      </p:sp>
      <p:pic>
        <p:nvPicPr>
          <p:cNvPr id="34" name="Image 9" descr="icons/check_t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4279392"/>
            <a:ext cx="164592" cy="164592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6885432" y="418795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conversions raise a ValueError at runtime</a:t>
            </a:r>
            <a:endParaRPr lang="en-US" sz="1150" dirty="0"/>
          </a:p>
        </p:txBody>
      </p:sp>
      <p:sp>
        <p:nvSpPr>
          <p:cNvPr id="36" name="Shape 24"/>
          <p:cNvSpPr/>
          <p:nvPr/>
        </p:nvSpPr>
        <p:spPr>
          <a:xfrm>
            <a:off x="6629400" y="4846320"/>
            <a:ext cx="4800600" cy="1188720"/>
          </a:xfrm>
          <a:prstGeom prst="roundRect">
            <a:avLst>
              <a:gd name="adj" fmla="val 5385"/>
            </a:avLst>
          </a:prstGeom>
          <a:solidFill>
            <a:srgbClr val="1B2733"/>
          </a:solidFill>
          <a:ln/>
        </p:spPr>
      </p:sp>
      <p:sp>
        <p:nvSpPr>
          <p:cNvPr id="37" name="Text 25"/>
          <p:cNvSpPr/>
          <p:nvPr/>
        </p:nvSpPr>
        <p:spPr>
          <a:xfrm>
            <a:off x="6812280" y="4983480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'10'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</a:t>
            </a:r>
            <a:endParaRPr lang="en-US" sz="1150" dirty="0"/>
          </a:p>
        </p:txBody>
      </p:sp>
      <p:sp>
        <p:nvSpPr>
          <p:cNvPr id="38" name="Text 26"/>
          <p:cNvSpPr/>
          <p:nvPr/>
        </p:nvSpPr>
        <p:spPr>
          <a:xfrm>
            <a:off x="6812280" y="5303520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(x) + </a:t>
            </a:r>
            <a:pPr indent="0" marL="0">
              <a:buNone/>
            </a:pPr>
            <a:r>
              <a:rPr lang="en-US" sz="11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50" dirty="0"/>
          </a:p>
        </p:txBody>
      </p:sp>
      <p:sp>
        <p:nvSpPr>
          <p:cNvPr id="39" name="Text 27"/>
          <p:cNvSpPr/>
          <p:nvPr/>
        </p:nvSpPr>
        <p:spPr>
          <a:xfrm>
            <a:off x="6812280" y="5623560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(y)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15 (int)</a:t>
            </a:r>
            <a:endParaRPr lang="en-US" sz="1150" dirty="0"/>
          </a:p>
        </p:txBody>
      </p:sp>
      <p:sp>
        <p:nvSpPr>
          <p:cNvPr id="40" name="Text 2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</a:t>
            </a:r>
            <a:endParaRPr lang="en-US" sz="1000" dirty="0"/>
          </a:p>
        </p:txBody>
      </p:sp>
      <p:sp>
        <p:nvSpPr>
          <p:cNvPr id="41" name="Text 2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Output: print() with Formatting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48640" cy="54864"/>
          </a:xfrm>
          <a:prstGeom prst="rect">
            <a:avLst/>
          </a:prstGeom>
          <a:solidFill>
            <a:srgbClr val="FFD43B"/>
          </a:solidFill>
          <a:ln/>
        </p:spPr>
      </p:sp>
      <p:pic>
        <p:nvPicPr>
          <p:cNvPr id="4" name="Image 0" descr="icons/prin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004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34440"/>
            <a:ext cx="5394960" cy="4892040"/>
          </a:xfrm>
          <a:prstGeom prst="roundRect">
            <a:avLst>
              <a:gd name="adj" fmla="val 1869"/>
            </a:avLst>
          </a:prstGeom>
          <a:solidFill>
            <a:srgbClr val="244A6B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371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1737360"/>
            <a:ext cx="4937760" cy="502920"/>
          </a:xfrm>
          <a:prstGeom prst="roundRect">
            <a:avLst>
              <a:gd name="adj" fmla="val 10909"/>
            </a:avLst>
          </a:prstGeom>
          <a:solidFill>
            <a:srgbClr val="1B2733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373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(value1, value2, ..., </a:t>
            </a:r>
            <a:pPr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</a:t>
            </a:r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=, </a:t>
            </a:r>
            <a:pPr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2377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Parameters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27432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  -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inserted between multiple values (default: single space)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33101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 -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appended after the last value (default: newline)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387705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Escape sequences  -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\n (newline), \t (tab) - used inside strings for formatting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" y="4709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Formatting Values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85800" y="507492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f-strings - f"Hello {name}, age {age}" - embed variables directly inside a string using curly braces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080760" y="1234440"/>
            <a:ext cx="5623560" cy="2331720"/>
          </a:xfrm>
          <a:prstGeom prst="roundRect">
            <a:avLst>
              <a:gd name="adj" fmla="val 3137"/>
            </a:avLst>
          </a:prstGeom>
          <a:solidFill>
            <a:srgbClr val="1B2733"/>
          </a:solidFill>
          <a:ln/>
        </p:spPr>
      </p:sp>
      <p:sp>
        <p:nvSpPr>
          <p:cNvPr id="16" name="Shape 13"/>
          <p:cNvSpPr/>
          <p:nvPr/>
        </p:nvSpPr>
        <p:spPr>
          <a:xfrm>
            <a:off x="6263640" y="1380744"/>
            <a:ext cx="118872" cy="118872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7" name="Shape 14"/>
          <p:cNvSpPr/>
          <p:nvPr/>
        </p:nvSpPr>
        <p:spPr>
          <a:xfrm>
            <a:off x="6492240" y="1380744"/>
            <a:ext cx="118872" cy="118872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8" name="Shape 15"/>
          <p:cNvSpPr/>
          <p:nvPr/>
        </p:nvSpPr>
        <p:spPr>
          <a:xfrm>
            <a:off x="6720840" y="1380744"/>
            <a:ext cx="118872" cy="118872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9" name="Text 16"/>
          <p:cNvSpPr/>
          <p:nvPr/>
        </p:nvSpPr>
        <p:spPr>
          <a:xfrm>
            <a:off x="9784080" y="132588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output_demo.py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55080" y="1737360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'Asha'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355080" y="2020824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91.5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355080" y="2304288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355080" y="2587752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'B'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'C'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'-'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355080" y="2871216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'Loading'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'...'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355080" y="3154680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"{name} scored {marks}"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08076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080760" y="4160520"/>
            <a:ext cx="5623560" cy="1874520"/>
          </a:xfrm>
          <a:prstGeom prst="roundRect">
            <a:avLst>
              <a:gd name="adj" fmla="val 3902"/>
            </a:avLst>
          </a:prstGeom>
          <a:solidFill>
            <a:srgbClr val="0D1B0F"/>
          </a:solidFill>
          <a:ln/>
        </p:spPr>
      </p:sp>
      <p:sp>
        <p:nvSpPr>
          <p:cNvPr id="28" name="Text 25"/>
          <p:cNvSpPr/>
          <p:nvPr/>
        </p:nvSpPr>
        <p:spPr>
          <a:xfrm>
            <a:off x="6355080" y="4343400"/>
            <a:ext cx="5074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F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A-B-C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F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Loading...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F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Asha scored 91.5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- print()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Input: input() with Examples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48640" cy="54864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34440"/>
            <a:ext cx="5394960" cy="4892040"/>
          </a:xfrm>
          <a:prstGeom prst="roundRect">
            <a:avLst>
              <a:gd name="adj" fmla="val 1869"/>
            </a:avLst>
          </a:prstGeom>
          <a:solidFill>
            <a:srgbClr val="F4F6F8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1E3D59"/>
          </a:solidFill>
          <a:ln/>
        </p:spPr>
      </p:sp>
      <p:pic>
        <p:nvPicPr>
          <p:cNvPr id="6" name="Image 0" descr="icons/keybo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3677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5087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input()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2194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Syntax:  variable = input(prompt)</a:t>
            </a:r>
            <a:endParaRPr lang="en-US" sz="1300" dirty="0"/>
          </a:p>
        </p:txBody>
      </p:sp>
      <p:pic>
        <p:nvPicPr>
          <p:cNvPr id="9" name="Image 1" descr="icons/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61488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4128" y="267004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program execution and waits for the user to type a value, then press Enter</a:t>
            </a:r>
            <a:endParaRPr lang="en-US" sz="1200" dirty="0"/>
          </a:p>
        </p:txBody>
      </p:sp>
      <p:pic>
        <p:nvPicPr>
          <p:cNvPr id="11" name="Image 2" descr="icons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47288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35584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optional prompt string is displayed to the user before they type</a:t>
            </a:r>
            <a:endParaRPr lang="en-US" sz="1200" dirty="0"/>
          </a:p>
        </p:txBody>
      </p:sp>
      <p:pic>
        <p:nvPicPr>
          <p:cNvPr id="13" name="Image 3" descr="icon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33088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24128" y="404164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returns the typed value as a string - even if the user enters a number</a:t>
            </a:r>
            <a:endParaRPr lang="en-US" sz="1200" dirty="0"/>
          </a:p>
        </p:txBody>
      </p:sp>
      <p:pic>
        <p:nvPicPr>
          <p:cNvPr id="15" name="Image 4" descr="icons/chec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818888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24128" y="472744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int(), float() etc. to convert into a usable numeric type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731520" y="548640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FF3CD"/>
          </a:solidFill>
          <a:ln/>
        </p:spPr>
      </p:sp>
      <p:sp>
        <p:nvSpPr>
          <p:cNvPr id="18" name="Text 11"/>
          <p:cNvSpPr/>
          <p:nvPr/>
        </p:nvSpPr>
        <p:spPr>
          <a:xfrm>
            <a:off x="868680" y="54864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int(input()) raises ValueError if the text is not a valid number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6080760" y="1234440"/>
            <a:ext cx="5623560" cy="2514600"/>
          </a:xfrm>
          <a:prstGeom prst="roundRect">
            <a:avLst>
              <a:gd name="adj" fmla="val 2909"/>
            </a:avLst>
          </a:prstGeom>
          <a:solidFill>
            <a:srgbClr val="1B2733"/>
          </a:solidFill>
          <a:ln/>
        </p:spPr>
      </p:sp>
      <p:sp>
        <p:nvSpPr>
          <p:cNvPr id="20" name="Shape 13"/>
          <p:cNvSpPr/>
          <p:nvPr/>
        </p:nvSpPr>
        <p:spPr>
          <a:xfrm>
            <a:off x="6263640" y="1380744"/>
            <a:ext cx="118872" cy="118872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1" name="Shape 14"/>
          <p:cNvSpPr/>
          <p:nvPr/>
        </p:nvSpPr>
        <p:spPr>
          <a:xfrm>
            <a:off x="6492240" y="1380744"/>
            <a:ext cx="118872" cy="118872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2" name="Shape 15"/>
          <p:cNvSpPr/>
          <p:nvPr/>
        </p:nvSpPr>
        <p:spPr>
          <a:xfrm>
            <a:off x="6720840" y="1380744"/>
            <a:ext cx="118872" cy="118872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3" name="Text 16"/>
          <p:cNvSpPr/>
          <p:nvPr/>
        </p:nvSpPr>
        <p:spPr>
          <a:xfrm>
            <a:off x="9784080" y="132588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input_demo.py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6355080" y="1691640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Text input - returned as a string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6355080" y="1975104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'Enter your city: '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6355080" y="2258568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6355080" y="2542032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Numeric input - convert explicitly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355080" y="2825496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(input(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'Enter your age: '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6355080" y="3108960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6355080" y="3392424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"{city}, age {age}"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6080760" y="3931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Run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6080760" y="4297680"/>
            <a:ext cx="5623560" cy="1783080"/>
          </a:xfrm>
          <a:prstGeom prst="roundRect">
            <a:avLst>
              <a:gd name="adj" fmla="val 4103"/>
            </a:avLst>
          </a:prstGeom>
          <a:solidFill>
            <a:srgbClr val="0D1B0F"/>
          </a:solidFill>
          <a:ln/>
        </p:spPr>
      </p:sp>
      <p:sp>
        <p:nvSpPr>
          <p:cNvPr id="33" name="Text 26"/>
          <p:cNvSpPr/>
          <p:nvPr/>
        </p:nvSpPr>
        <p:spPr>
          <a:xfrm>
            <a:off x="6355080" y="4480560"/>
            <a:ext cx="5074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Enter your city: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Delhi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Enter your age: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F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Delhi, age 21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- input()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306998">
              <a:alpha val="45000"/>
            </a:srgbClr>
          </a:solidFill>
          <a:ln/>
        </p:spPr>
      </p:sp>
      <p:pic>
        <p:nvPicPr>
          <p:cNvPr id="3" name="Image 0" descr="icons/python_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73736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918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Operators and Expressions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2026-08-07T07:35:38Z</dcterms:created>
  <dcterms:modified xsi:type="dcterms:W3CDTF">2026-08-07T07:35:38Z</dcterms:modified>
</cp:coreProperties>
</file>